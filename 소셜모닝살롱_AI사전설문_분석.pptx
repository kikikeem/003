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822960" cy="118872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FD0F2"/>
                </a:solidFill>
                <a:latin typeface="Malgun Gothic"/>
              </a:rPr>
              <a:t>소셜모닝살롱 · AI 사전설문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Malgun Gothic"/>
              </a:rPr>
              <a:t>AI 사전설문 응답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D7E0F2"/>
                </a:solidFill>
                <a:latin typeface="Malgun Gothic"/>
              </a:rPr>
              <a:t>2시간 모닝살롱 세션 설계를 위한 참가자 인사이트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FB2DB"/>
                </a:solidFill>
                <a:latin typeface="Malgun Gothic"/>
              </a:rPr>
              <a:t>응답 6명   ·   2026.07.12–07.13   ·   분석일 2026.07.13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E9E"/>
                </a:solidFill>
                <a:latin typeface="Malgun Gothic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A44"/>
                </a:solidFill>
                <a:latin typeface="Malgun Gothic"/>
              </a:rPr>
              <a:t>핵심 요약 — 한눈에 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79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2625013" cy="40233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2625013" cy="164592"/>
          </a:xfrm>
          <a:prstGeom prst="rect">
            <a:avLst/>
          </a:prstGeom>
          <a:solidFill>
            <a:srgbClr val="0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2259253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9E9E"/>
                </a:solidFill>
                <a:latin typeface="Malgun Gothic"/>
              </a:rPr>
              <a:t>이미 쓰는 실무자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2259253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6명 전원 소셜/임팩트 리더급.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초심자가 아니라 '매일 쓰지만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얕게 쓰는' 그룹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6533" y="1737360"/>
            <a:ext cx="2625013" cy="40233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6533" y="1737360"/>
            <a:ext cx="2625013" cy="164592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9413" y="2148840"/>
            <a:ext cx="2259253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85D4E"/>
                </a:solidFill>
                <a:latin typeface="Malgun Gothic"/>
              </a:rPr>
              <a:t>자동화의 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9413" y="3108960"/>
            <a:ext cx="2259253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전원의 공통 페인포인트: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"에이전트·자동화는 하고 싶은데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너무 기술적으로 느껴진다"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0147" y="1737360"/>
            <a:ext cx="2625013" cy="40233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7" y="1737360"/>
            <a:ext cx="2625013" cy="1645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27" y="2148840"/>
            <a:ext cx="2259253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F6FED"/>
                </a:solidFill>
                <a:latin typeface="Malgun Gothic"/>
              </a:rPr>
              <a:t>원하는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3108960"/>
            <a:ext cx="2259253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내 업무에 바로 붙이는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AI 자동화·에이전트.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제안서·회의록·리포트 반복업무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3761" y="1737360"/>
            <a:ext cx="2625013" cy="40233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3761" y="1737360"/>
            <a:ext cx="2625013" cy="164592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641" y="2148840"/>
            <a:ext cx="2259253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A62E"/>
                </a:solidFill>
                <a:latin typeface="Malgun Gothic"/>
              </a:rPr>
              <a:t>원하는 방식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641" y="3108960"/>
            <a:ext cx="2259253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실제 업무 사례 데모 +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프롬프트/워크시트 제공.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개념·입문 강의는 최소화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43600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A44"/>
                </a:solidFill>
                <a:latin typeface="Malgun Gothic"/>
              </a:rPr>
              <a:t>→ 세션의 성패는 '비개발자도 만드는 자동화·에이전트'의 진입 장벽을 낮추는 데 달려 있음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372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E9E"/>
                </a:solidFill>
                <a:latin typeface="Malgun Gothic"/>
              </a:rPr>
              <a:t>RESPONDENTS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A44"/>
                </a:solidFill>
                <a:latin typeface="Malgun Gothic"/>
              </a:rPr>
              <a:t>응답자 프로필 — 전원 소셜임팩트 섹터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79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83112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023360"/>
                <a:gridCol w="1920240"/>
                <a:gridCol w="1920240"/>
                <a:gridCol w="1947672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이름</a:t>
                      </a:r>
                    </a:p>
                  </a:txBody>
                  <a:tcPr anchor="ctr" marL="109728" marR="73152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anchor="ctr" marL="109728" marR="73152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AI 빈도</a:t>
                      </a:r>
                    </a:p>
                  </a:txBody>
                  <a:tcPr anchor="ctr" marL="109728" marR="73152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자기 수준</a:t>
                      </a:r>
                    </a:p>
                  </a:txBody>
                  <a:tcPr anchor="ctr" marL="109728" marR="73152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파트너 자신감</a:t>
                      </a:r>
                    </a:p>
                  </a:txBody>
                  <a:tcPr anchor="ctr" marL="109728" marR="73152" marT="18288" marB="18288">
                    <a:solidFill>
                      <a:srgbClr val="1F2A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김진남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NPO/국제개발/공공/정책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월 1–2회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Level 1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FED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한영현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창업가/대표/조직 리더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거의 매일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Level 2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FED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백정연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사회혁신/소셜벤처 운영자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거의 매일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Level 2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FED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김하연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창업가/대표/조직 리더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거의 매일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Level 3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FED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이은애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CSR/ESG/임팩트·기업협력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거의 매일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Level 2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FED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anchor="ctr" marL="109728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조정원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교육/연구/컨설팅/교수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주 3–4회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52B38"/>
                          </a:solidFill>
                          <a:latin typeface="Malgun Gothic"/>
                        </a:rPr>
                        <a:t>Level 1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FED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anchor="ctr" marL="109728" marR="73152" marT="18288" marB="18288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532120"/>
            <a:ext cx="1118585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B6372"/>
                </a:solidFill>
                <a:latin typeface="Malgun Gothic"/>
              </a:rPr>
              <a:t>· 섹터 동질성이 높아 하나의 사례(제안서·파트너십·ESG 리포트)가 전원에게 유효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B6372"/>
                </a:solidFill>
                <a:latin typeface="Malgun Gothic"/>
              </a:rPr>
              <a:t>· 자신감 편차 큼(1~5) — 조/짝 실습 시 수준 페어링 필요 · Level 4~5(자동화·에이전트)는 0명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372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E9E"/>
                </a:solidFill>
                <a:latin typeface="Malgun Gothic"/>
              </a:rPr>
              <a:t>CURRENT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A44"/>
                </a:solidFill>
                <a:latin typeface="Malgun Gothic"/>
              </a:rPr>
              <a:t>AI 활용 현황 — 매일 쓰지만 얕게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79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39496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사용 빈도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거의 매일 사용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2423160"/>
            <a:ext cx="2468880" cy="2743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377440"/>
            <a:ext cx="548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72"/>
                </a:solidFill>
                <a:latin typeface="Malgun Gothic"/>
              </a:rPr>
              <a:t>4명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443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주 3–4회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2990088"/>
            <a:ext cx="617220" cy="274320"/>
          </a:xfrm>
          <a:prstGeom prst="rect">
            <a:avLst/>
          </a:prstGeom>
          <a:solidFill>
            <a:srgbClr val="0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4740" y="2944368"/>
            <a:ext cx="548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72"/>
                </a:solidFill>
                <a:latin typeface="Malgun Gothic"/>
              </a:rPr>
              <a:t>1명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11296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월 1–2회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3557016"/>
            <a:ext cx="617220" cy="274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4740" y="3511296"/>
            <a:ext cx="548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72"/>
                </a:solidFill>
                <a:latin typeface="Malgun Gothic"/>
              </a:rPr>
              <a:t>1명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97680"/>
            <a:ext cx="539496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자기 인식 수준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92040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52B38"/>
                </a:solidFill>
                <a:latin typeface="Malgun Gothic"/>
              </a:rPr>
              <a:t>Level 1  질문·요약·번역 보조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89204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2B38"/>
                </a:solidFill>
                <a:latin typeface="Malgun Gothic"/>
              </a:rPr>
              <a:t>2명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94376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52B38"/>
                </a:solidFill>
                <a:latin typeface="Malgun Gothic"/>
              </a:rPr>
              <a:t>Level 2  문서·리서치·기획 활용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5294376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2B38"/>
                </a:solidFill>
                <a:latin typeface="Malgun Gothic"/>
              </a:rPr>
              <a:t>3명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696712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52B38"/>
                </a:solidFill>
                <a:latin typeface="Malgun Gothic"/>
              </a:rPr>
              <a:t>Level 3  템플릿·파일·워크스페이스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6967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2B38"/>
                </a:solidFill>
                <a:latin typeface="Malgun Gothic"/>
              </a:rPr>
              <a:t>1명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99048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52B38"/>
                </a:solidFill>
                <a:latin typeface="Malgun Gothic"/>
              </a:rPr>
              <a:t>Level 4–5  자동화·에이전트·API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099048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5D4E"/>
                </a:solidFill>
                <a:latin typeface="Malgun Gothic"/>
              </a:rPr>
              <a:t>0명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691640"/>
            <a:ext cx="5468112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737360"/>
            <a:ext cx="510235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'AI를 업무 파트너로' 자신감 (1–5)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37744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52B38"/>
                </a:solidFill>
                <a:latin typeface="Malgun Gothic"/>
              </a:rPr>
              <a:t>조정원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2404872"/>
            <a:ext cx="621792" cy="256032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74152" y="2377440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3464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52B38"/>
                </a:solidFill>
                <a:latin typeface="Malgun Gothic"/>
              </a:rPr>
              <a:t>김진남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2862072"/>
            <a:ext cx="1243584" cy="256032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5944" y="2834640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29184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52B38"/>
                </a:solidFill>
                <a:latin typeface="Malgun Gothic"/>
              </a:rPr>
              <a:t>한영현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3319272"/>
            <a:ext cx="1865376" cy="256032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7736" y="3291840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74904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52B38"/>
                </a:solidFill>
                <a:latin typeface="Malgun Gothic"/>
              </a:rPr>
              <a:t>백정연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3776472"/>
            <a:ext cx="1865376" cy="256032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17736" y="3749040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20624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52B38"/>
                </a:solidFill>
                <a:latin typeface="Malgun Gothic"/>
              </a:rPr>
              <a:t>김하연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4233672"/>
            <a:ext cx="2487168" cy="256032"/>
          </a:xfrm>
          <a:prstGeom prst="rect">
            <a:avLst/>
          </a:prstGeom>
          <a:solidFill>
            <a:srgbClr val="0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39528" y="4206240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66344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52B38"/>
                </a:solidFill>
                <a:latin typeface="Malgun Gothic"/>
              </a:rPr>
              <a:t>이은애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4690872"/>
            <a:ext cx="3108960" cy="256032"/>
          </a:xfrm>
          <a:prstGeom prst="rect">
            <a:avLst/>
          </a:prstGeom>
          <a:solidFill>
            <a:srgbClr val="0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61320" y="4663440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212080"/>
            <a:ext cx="5468112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A44"/>
                </a:solidFill>
                <a:latin typeface="Malgun Gothic"/>
              </a:rPr>
              <a:t>평균 3.0 · 편차 큼 → 참가자 간 수준 격차 존재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372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E9E"/>
                </a:solidFill>
                <a:latin typeface="Malgun Gothic"/>
              </a:rPr>
              <a:t>TOOLS IN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A44"/>
                </a:solidFill>
                <a:latin typeface="Malgun Gothic"/>
              </a:rPr>
              <a:t>실제 사용 중인 도구 — ChatGPT·Gemini·Claude 표준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79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108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Gemini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901952"/>
            <a:ext cx="5943600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57232" y="1828800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72"/>
                </a:solidFill>
                <a:latin typeface="Malgun Gothic"/>
              </a:rPr>
              <a:t>6명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40864"/>
            <a:ext cx="3108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ChatGPT (유료 Plus)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414016"/>
            <a:ext cx="4953000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6632" y="2340864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72"/>
                </a:solidFill>
                <a:latin typeface="Malgun Gothic"/>
              </a:rPr>
              <a:t>5명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52928"/>
            <a:ext cx="3108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Claude Pro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926080"/>
            <a:ext cx="3962400" cy="2926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6032" y="2852928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72"/>
                </a:solidFill>
                <a:latin typeface="Malgun Gothic"/>
              </a:rPr>
              <a:t>4명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64992"/>
            <a:ext cx="3108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Perplexity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3438144"/>
            <a:ext cx="990600" cy="29260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4232" y="3364992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72"/>
                </a:solidFill>
                <a:latin typeface="Malgun Gothic"/>
              </a:rPr>
              <a:t>1명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77056"/>
            <a:ext cx="3108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Notion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950208"/>
            <a:ext cx="990600" cy="29260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4232" y="3877056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72"/>
                </a:solidFill>
                <a:latin typeface="Malgun Gothic"/>
              </a:rPr>
              <a:t>1명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3108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Gamma / Tome (발표)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4462272"/>
            <a:ext cx="990600" cy="29260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04232" y="4389120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72"/>
                </a:solidFill>
                <a:latin typeface="Malgun Gothic"/>
              </a:rPr>
              <a:t>1명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01184"/>
            <a:ext cx="3108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Cursor / Lovable / Replit (코딩)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4974336"/>
            <a:ext cx="990600" cy="29260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4232" y="4901184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72"/>
                </a:solidFill>
                <a:latin typeface="Malgun Gothic"/>
              </a:rPr>
              <a:t>1명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13248"/>
            <a:ext cx="31089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ChatGPT 무료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5486400"/>
            <a:ext cx="990600" cy="29260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04232" y="5413248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372"/>
                </a:solidFill>
                <a:latin typeface="Malgun Gothic"/>
              </a:rPr>
              <a:t>1명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A44"/>
                </a:solidFill>
                <a:latin typeface="Malgun Gothic"/>
              </a:rPr>
              <a:t>→ 데모는 ChatGPT·Gemini·Claude 3종 안에서 재현하면 대부분 따라올 수 있음  ·  김하연=얼리어답터, 김진남·조정원=상대적 초심자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372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E9E"/>
                </a:solidFill>
                <a:latin typeface="Malgun Gothic"/>
              </a:rPr>
              <a:t>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A44"/>
                </a:solidFill>
                <a:latin typeface="Malgun Gothic"/>
              </a:rPr>
              <a:t>AI를 적용하고 싶은 영역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79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5661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반복업무 자동화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746504"/>
            <a:ext cx="5669280" cy="256032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0112" y="1691640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35661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보고서/제안서/문서 작성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176272"/>
            <a:ext cx="4535424" cy="25603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6256" y="2121408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176"/>
            <a:ext cx="35661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콘텐츠/브랜딩/디자인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606040"/>
            <a:ext cx="3401568" cy="256032"/>
          </a:xfrm>
          <a:prstGeom prst="rect">
            <a:avLst/>
          </a:prstGeom>
          <a:solidFill>
            <a:srgbClr val="0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551176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80944"/>
            <a:ext cx="35661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데이터 정리/분석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035808"/>
            <a:ext cx="3401568" cy="256032"/>
          </a:xfrm>
          <a:prstGeom prst="rect">
            <a:avLst/>
          </a:prstGeom>
          <a:solidFill>
            <a:srgbClr val="0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980944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10712"/>
            <a:ext cx="35661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모금/영업/파트너십 제안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465576"/>
            <a:ext cx="2267712" cy="25603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3410712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35661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리서치/트렌드 파악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895344"/>
            <a:ext cx="1133856" cy="25603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4688" y="3840480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70248"/>
            <a:ext cx="35661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CSR/ESG/임팩트 측정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325112"/>
            <a:ext cx="1133856" cy="25603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4688" y="4270248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00016"/>
            <a:ext cx="35661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교육·워크숍 설계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4754880"/>
            <a:ext cx="1133856" cy="25603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04688" y="4700016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29784"/>
            <a:ext cx="35661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커뮤니티/행사 운영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5184648"/>
            <a:ext cx="1133856" cy="25603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4688" y="5129784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559552"/>
            <a:ext cx="35661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개인 생산성/학습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5614416"/>
            <a:ext cx="1133856" cy="25603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04688" y="5559552"/>
            <a:ext cx="7315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372"/>
                </a:solidFill>
                <a:latin typeface="Malgun Gothic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Malgun Gothic"/>
              </a:rPr>
              <a:t>→ 1순위 = 반복업무 자동화, 2순위 = 문서/제안서 작성. 세션 핵심 축을 여기에 맞출 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372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E9E"/>
                </a:solidFill>
                <a:latin typeface="Malgun Gothic"/>
              </a:rPr>
              <a:t>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85D4E"/>
                </a:solidFill>
                <a:latin typeface="Malgun Gothic"/>
              </a:rPr>
              <a:t>가장 크게 막히는 지점 — 세션이 풀어야 할 문제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79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8869680" cy="6583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09728" cy="658368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84124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2B38"/>
                </a:solidFill>
                <a:latin typeface="Malgun Gothic"/>
              </a:rPr>
              <a:t>자동화·에이전트에 관심 있으나 너무 기술적으로 느껴진다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55480" y="1600200"/>
            <a:ext cx="2103120" cy="658368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1600200"/>
            <a:ext cx="210312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6명 전원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77440"/>
            <a:ext cx="8869680" cy="65836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77440"/>
            <a:ext cx="109728" cy="65836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77440"/>
            <a:ext cx="84124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2B38"/>
                </a:solidFill>
                <a:latin typeface="Malgun Gothic"/>
              </a:rPr>
              <a:t>한두 번은 되지만 반복 가능한 워크플로우로 만들기 어렵다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80" y="2377440"/>
            <a:ext cx="2103120" cy="658368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2377440"/>
            <a:ext cx="210312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4명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54680"/>
            <a:ext cx="8869680" cy="4754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154680"/>
            <a:ext cx="109728" cy="4754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841248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도구가 너무 많아 무엇을 써야 할지 모르겠다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3154680"/>
            <a:ext cx="2103120" cy="4754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3154680"/>
            <a:ext cx="21031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8869680" cy="4754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49040"/>
            <a:ext cx="109728" cy="4754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49040"/>
            <a:ext cx="841248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조직/팀 내 도입 기준을 만들기 어렵다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3749040"/>
            <a:ext cx="2103120" cy="4754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5480" y="3749040"/>
            <a:ext cx="21031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43400"/>
            <a:ext cx="8869680" cy="4754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343400"/>
            <a:ext cx="109728" cy="4754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343400"/>
            <a:ext cx="841248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어떤 업무에 써야 할지 모르겠다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55480" y="4343400"/>
            <a:ext cx="2103120" cy="4754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4343400"/>
            <a:ext cx="21031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1명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937760"/>
            <a:ext cx="8869680" cy="4754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37760"/>
            <a:ext cx="109728" cy="4754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937760"/>
            <a:ext cx="841248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2B38"/>
                </a:solidFill>
                <a:latin typeface="Malgun Gothic"/>
              </a:rPr>
              <a:t>질문/프롬프트를 어떻게 해야 할지 모르겠다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4937760"/>
            <a:ext cx="2103120" cy="4754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4937760"/>
            <a:ext cx="21031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1명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550408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Malgun Gothic"/>
              </a:rPr>
              <a:t>→ 전원이 "에이전트/자동화는 하고 싶은데 기술 장벽이 높다"고 답함. 진입 장벽 낮추기가 핵심.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372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E9E"/>
                </a:solidFill>
                <a:latin typeface="Malgun Gothic"/>
              </a:rPr>
              <a:t>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A44"/>
                </a:solidFill>
                <a:latin typeface="Malgun Gothic"/>
              </a:rPr>
              <a:t>세션 기대 — '에이전트'와 '자동화'로 수렴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79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455767" cy="13258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55767" cy="914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499856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F6FED"/>
                </a:solidFill>
                <a:latin typeface="Malgun Gothic"/>
              </a:rPr>
              <a:t>김진남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4998567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252B38"/>
                </a:solidFill>
                <a:latin typeface="Malgun Gothic"/>
              </a:rPr>
              <a:t>“AI agent를 만들고 실제로 활용할 수 있으면”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691640"/>
            <a:ext cx="5455767" cy="13258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691640"/>
            <a:ext cx="5455767" cy="914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892808"/>
            <a:ext cx="499856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F6FED"/>
                </a:solidFill>
                <a:latin typeface="Malgun Gothic"/>
              </a:rPr>
              <a:t>한영현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258568"/>
            <a:ext cx="4998567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252B38"/>
                </a:solidFill>
                <a:latin typeface="Malgun Gothic"/>
              </a:rPr>
              <a:t>“에이전트 만드는 개념이 잡혔으면”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00400"/>
            <a:ext cx="5455767" cy="13258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200400"/>
            <a:ext cx="5455767" cy="914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01568"/>
            <a:ext cx="499856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F6FED"/>
                </a:solidFill>
                <a:latin typeface="Malgun Gothic"/>
              </a:rPr>
              <a:t>백정연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4998567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252B38"/>
                </a:solidFill>
                <a:latin typeface="Malgun Gothic"/>
              </a:rPr>
              <a:t>“AI로 무엇을 시도할지 결정할 수 있음”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3007" y="3200400"/>
            <a:ext cx="5455767" cy="13258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200400"/>
            <a:ext cx="5455767" cy="914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607" y="3401568"/>
            <a:ext cx="499856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F6FED"/>
                </a:solidFill>
                <a:latin typeface="Malgun Gothic"/>
              </a:rPr>
              <a:t>김하연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7" y="3767328"/>
            <a:ext cx="4998567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252B38"/>
                </a:solidFill>
                <a:latin typeface="Malgun Gothic"/>
              </a:rPr>
              <a:t>“생산성 극대화 사례를 조직에 접목 · 반복 워크플로우 자동화 · 맞춤형 개인비서 에이전트”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5455767" cy="13258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709160"/>
            <a:ext cx="5455767" cy="914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10328"/>
            <a:ext cx="499856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F6FED"/>
                </a:solidFill>
                <a:latin typeface="Malgun Gothic"/>
              </a:rPr>
              <a:t>이은애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4998567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252B38"/>
                </a:solidFill>
                <a:latin typeface="Malgun Gothic"/>
              </a:rPr>
              <a:t>“2시간의 내용을 잘 소화하면 제일 좋겠다”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3007" y="4709160"/>
            <a:ext cx="5455767" cy="13258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3007" y="4709160"/>
            <a:ext cx="5455767" cy="914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4910328"/>
            <a:ext cx="499856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F6FED"/>
                </a:solidFill>
                <a:latin typeface="Malgun Gothic"/>
              </a:rPr>
              <a:t>조정원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1607" y="5276088"/>
            <a:ext cx="4998567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252B38"/>
                </a:solidFill>
                <a:latin typeface="Malgun Gothic"/>
              </a:rPr>
              <a:t>“AI 업무자동화에 관심이 있습니다”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550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Malgun Gothic"/>
              </a:rPr>
              <a:t>→ 6명 중 최소 4명이 '에이전트/자동화'를 명시적으로 언급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372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E9E"/>
                </a:solidFill>
                <a:latin typeface="Malgun Gothic"/>
              </a:rPr>
              <a:t>CONTENT PREFERENCE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A44"/>
                </a:solidFill>
                <a:latin typeface="Malgun Gothic"/>
              </a:rPr>
              <a:t>콘텐츠 선호도 — 무엇을 넣고 무엇을 뺄까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79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5394960" cy="502920"/>
          </a:xfrm>
          <a:prstGeom prst="rect">
            <a:avLst/>
          </a:prstGeom>
          <a:solidFill>
            <a:srgbClr val="0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00784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✓  원하는 진행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· 실제 업무 사례 중심 데모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77440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9E9E"/>
                </a:solidFill>
                <a:latin typeface="Malgun Gothic"/>
              </a:rPr>
              <a:t>6명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· 프롬프트/워크시트 제공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26080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9E9E"/>
                </a:solidFill>
                <a:latin typeface="Malgun Gothic"/>
              </a:rPr>
              <a:t>6명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74720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· 짧고 선명한 인사이트 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74720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9E9E"/>
                </a:solidFill>
                <a:latin typeface="Malgun Gothic"/>
              </a:rPr>
              <a:t>4명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23360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· 각자 업무 핸즈온 실습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023360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9E9E"/>
                </a:solidFill>
                <a:latin typeface="Malgun Gothic"/>
              </a:rPr>
              <a:t>1명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45920"/>
            <a:ext cx="5394960" cy="502920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700784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✕  덜 다뤄도 되는 내용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377440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· AI 역사/개념 설명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2377440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5D4E"/>
                </a:solidFill>
                <a:latin typeface="Malgun Gothic"/>
              </a:rPr>
              <a:t>4명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26080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· 기초 가입/로그인 안내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2926080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5D4E"/>
                </a:solidFill>
                <a:latin typeface="Malgun Gothic"/>
              </a:rPr>
              <a:t>4명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474720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· 툴 목록만 나열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3474720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5D4E"/>
                </a:solidFill>
                <a:latin typeface="Malgun Gothic"/>
              </a:rPr>
              <a:t>3명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023360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· 추상적 미래 전망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4023360"/>
            <a:ext cx="1097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5D4E"/>
                </a:solidFill>
                <a:latin typeface="Malgun Gothic"/>
              </a:rPr>
              <a:t>2명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892040"/>
            <a:ext cx="11183112" cy="13258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892040"/>
            <a:ext cx="109728" cy="1325880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29200"/>
            <a:ext cx="10698480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주의 — '너무 기술적인 코딩 설명' 제외는 단 1명(Level 1)만 요청. 나머지는 오히려 자동화·에이전트 기술을 원함.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52B38"/>
                </a:solidFill>
                <a:latin typeface="Malgun Gothic"/>
              </a:rPr>
              <a:t>→ 코딩·기술을 빼면 안 되고, '노코드/로우코드' 비개발자 눈높이로 풀어야 함.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372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E9E"/>
                </a:solidFill>
                <a:latin typeface="Malgun Gothic"/>
              </a:rPr>
              <a:t>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2A44"/>
                </a:solidFill>
                <a:latin typeface="Malgun Gothic"/>
              </a:rPr>
              <a:t>실습 환경 — 실습 강제 시 2명 소외 위험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79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881360" cy="8686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28016" cy="868680"/>
          </a:xfrm>
          <a:prstGeom prst="rect">
            <a:avLst/>
          </a:prstGeom>
          <a:solidFill>
            <a:srgbClr val="0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68580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52B38"/>
                </a:solidFill>
                <a:latin typeface="Malgun Gothic"/>
              </a:rPr>
              <a:t>노트북/태블릿 + AI 계정 모두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828800"/>
            <a:ext cx="356616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9E9E"/>
                </a:solidFill>
                <a:latin typeface="Malgun Gothic"/>
              </a:rPr>
              <a:t>4명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10881360" cy="8686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128016" cy="868680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80360"/>
            <a:ext cx="68580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52B38"/>
                </a:solidFill>
                <a:latin typeface="Malgun Gothic"/>
              </a:rPr>
              <a:t>스마트폰 + AI 계정만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880360"/>
            <a:ext cx="356616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A62E"/>
                </a:solidFill>
                <a:latin typeface="Malgun Gothic"/>
              </a:rPr>
              <a:t>2명 (김진남·조정원)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372"/>
                </a:solidFill>
                <a:latin typeface="Malgun Gothic"/>
              </a:rPr>
              <a:t>· 준비된 4명 전원 PC 사용  ·  실습 성향: '듣고 싶다' 3명 / '실습 준비됨' 3명 (반반)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33272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권고 — 데모 중심 + '원하는 사람은 즉석 실습'의 하이브리드.</a:t>
            </a:r>
          </a:p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스마트폰만 가능한 2명을 위해 모바일에서도 따라 할 수 있는 예시 1개를 준비할 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372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118872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9E9E"/>
                </a:solidFill>
                <a:latin typeface="Malgun Gothic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세션 설계 제언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996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Malgun Gothic"/>
              </a:rPr>
              <a:t>핵심 주제 = '비개발자를 위한 AI 자동화·에이전트'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86584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4EC"/>
                </a:solidFill>
                <a:latin typeface="Malgun Gothic"/>
              </a:rPr>
              <a:t>GPTs·Projects·노코드 자동화로 '코딩 없이 만드는 나만의 에이전트'를 보여줄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98648"/>
            <a:ext cx="502920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9864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71216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Malgun Gothic"/>
              </a:rPr>
              <a:t>소재는 이 그룹의 실제 업무로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27832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4EC"/>
                </a:solidFill>
                <a:latin typeface="Malgun Gothic"/>
              </a:rPr>
              <a:t>제안서·파트너십·ESG/임팩트 리포트·회의록 — 하나의 케이스가 전원에게 유효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39896"/>
            <a:ext cx="502920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39896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12464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Malgun Gothic"/>
              </a:rPr>
              <a:t>짧은 인사이트 강의 → 실무 데모(중심) → 프롬프트/워크시트 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690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4EC"/>
                </a:solidFill>
                <a:latin typeface="Malgun Gothic"/>
              </a:rPr>
              <a:t>개념·역사·가입 안내는 생략, 바로 쓸 프롬프트 팩을 산출물로 제공(전원 기대)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581144"/>
            <a:ext cx="502920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81144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55371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Malgun Gothic"/>
              </a:rPr>
              <a:t>실습은 '선택형 하이브리드'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910328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4EC"/>
                </a:solidFill>
                <a:latin typeface="Malgun Gothic"/>
              </a:rPr>
              <a:t>준비된 사람은 즉석 실습, 나머지는 데모 관찰 · 모바일 예시 1개 확보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422392"/>
            <a:ext cx="502920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22392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3949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Malgun Gothic"/>
              </a:rPr>
              <a:t>수준 격차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751576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4EC"/>
                </a:solidFill>
                <a:latin typeface="Malgun Gothic"/>
              </a:rPr>
              <a:t>얼리어답터엔 심화 팁, 초심자엔 '첫 자동화' — 양쪽 모두 가져갈 것 설계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